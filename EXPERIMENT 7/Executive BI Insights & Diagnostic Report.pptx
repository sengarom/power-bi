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Inter"/>
      <p:bold r:id="rId8"/>
    </p:embeddedFont>
    <p:embeddedFont>
      <p:font typeface="Space Grotesk"/>
      <p:bold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4512915"/>
            <a:ext cx="2200275" cy="371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457575" y="4512915"/>
            <a:ext cx="2771775" cy="371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572250" y="4512915"/>
            <a:ext cx="2400300" cy="371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4512915"/>
            <a:ext cx="28575" cy="3714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457575" y="4512915"/>
            <a:ext cx="28575" cy="3714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72250" y="4512915"/>
            <a:ext cx="28575" cy="3714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973609"/>
            <a:ext cx="11277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8BDF8"/>
                </a:solidFill>
                <a:latin typeface="Space Grotesk"/>
              </a:rPr>
              <a:t>EXPERIMENT 7 • ADVANCED BI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06984"/>
            <a:ext cx="9301162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8FAFC"/>
                </a:solidFill>
                <a:latin typeface="Space Grotesk"/>
              </a:rPr>
              <a:t>Executive Business Insights &amp; Diagnostic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36615"/>
            <a:ext cx="73342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Strategic evaluation of Global Superstore performance, diagnostic problem identification, and executive recommendations.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325" y="4512915"/>
            <a:ext cx="254793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Environment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4693890"/>
            <a:ext cx="254793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2E8F0"/>
                </a:solidFill>
                <a:latin typeface="Inter"/>
              </a:rPr>
              <a:t>Microsoft Power BI Desktop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9500" y="4512915"/>
            <a:ext cx="326231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Source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9500" y="4693890"/>
            <a:ext cx="326231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2E8F0"/>
                </a:solidFill>
                <a:latin typeface="Inter"/>
              </a:rPr>
              <a:t>Global Superstore (51,290 Records)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4175" y="4512915"/>
            <a:ext cx="279796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Executive Focus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4175" y="4693890"/>
            <a:ext cx="279796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2E8F0"/>
                </a:solidFill>
                <a:latin typeface="Inter"/>
              </a:rPr>
              <a:t>Scorecards, Margins &amp; Growth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548062"/>
            <a:ext cx="5617964" cy="1771650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366962"/>
            <a:ext cx="1783705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526655" y="2366962"/>
            <a:ext cx="1783705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443710" y="2366962"/>
            <a:ext cx="1783705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6164" y="1795462"/>
            <a:ext cx="5126235" cy="40957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65689" y="1795462"/>
            <a:ext cx="5107185" cy="490709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90575" y="3729037"/>
          <a:ext cx="5256011" cy="1409700"/>
        </p:xfrm>
        <a:graphic>
          <a:graphicData uri="http://schemas.openxmlformats.org/drawingml/2006/table">
            <a:tbl>
              <a:tblPr/>
              <a:tblGrid>
                <a:gridCol w="598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76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75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51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Metric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Actual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Target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Achievement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Status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Inter"/>
                        </a:rPr>
                        <a:t>Sales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$12,642,501.91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i="0" u="none">
                          <a:solidFill>
                            <a:srgbClr val="64748B"/>
                          </a:solidFill>
                          <a:latin typeface="Inter"/>
                        </a:rPr>
                        <a:t>$13,000,000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 u="none">
                          <a:solidFill>
                            <a:srgbClr val="D97706"/>
                          </a:solidFill>
                          <a:latin typeface="Inter"/>
                        </a:rPr>
                        <a:t>97.25%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D97706"/>
                          </a:solidFill>
                          <a:latin typeface="Inter"/>
                        </a:rPr>
                        <a:t>▲ Partially Achieved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Inter"/>
                        </a:rPr>
                        <a:t>Profit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$1,467,457.29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i="0" u="none">
                          <a:solidFill>
                            <a:srgbClr val="64748B"/>
                          </a:solidFill>
                          <a:latin typeface="Inter"/>
                        </a:rPr>
                        <a:t>$1,500,000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 u="none">
                          <a:solidFill>
                            <a:srgbClr val="D97706"/>
                          </a:solidFill>
                          <a:latin typeface="Inter"/>
                        </a:rPr>
                        <a:t>97.83%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D97706"/>
                          </a:solidFill>
                          <a:latin typeface="Inter"/>
                        </a:rPr>
                        <a:t>▲ Partially Achieved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Inter"/>
                        </a:rPr>
                        <a:t>Orders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25,728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i="0" u="none">
                          <a:solidFill>
                            <a:srgbClr val="64748B"/>
                          </a:solidFill>
                          <a:latin typeface="Inter"/>
                        </a:rPr>
                        <a:t>25,000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 u="none">
                          <a:solidFill>
                            <a:srgbClr val="0F172A"/>
                          </a:solidFill>
                          <a:latin typeface="Inter"/>
                        </a:rPr>
                        <a:t>102.91%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0F172A"/>
                          </a:solidFill>
                          <a:latin typeface="Inter"/>
                        </a:rPr>
                        <a:t>● Achieved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9600" y="4191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PERFORMANCE SCORECARD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3817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Executive Dashboard Overview &amp; Target 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2528887"/>
            <a:ext cx="18248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Inter"/>
              </a:rPr>
              <a:t>TOTAL SALES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2719387"/>
            <a:ext cx="1824818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F172A"/>
                </a:solidFill>
                <a:latin typeface="Space Grotesk"/>
              </a:rPr>
              <a:t>$12.64M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525" y="3081337"/>
            <a:ext cx="18248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D97706"/>
                </a:solidFill>
                <a:latin typeface="Inter"/>
              </a:rPr>
              <a:t>97.25% of 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88580" y="2528887"/>
            <a:ext cx="18248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Inter"/>
              </a:rPr>
              <a:t>TOTAL PROFIT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8580" y="2719387"/>
            <a:ext cx="1824818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284C7"/>
                </a:solidFill>
                <a:latin typeface="Space Grotesk"/>
              </a:rPr>
              <a:t>$1.47M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88580" y="3081337"/>
            <a:ext cx="18248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D97706"/>
                </a:solidFill>
                <a:latin typeface="Inter"/>
              </a:rPr>
              <a:t>97.83% of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5635" y="2528887"/>
            <a:ext cx="18248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Inter"/>
              </a:rPr>
              <a:t>TOTAL ORDERS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5635" y="2719387"/>
            <a:ext cx="1824818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F172A"/>
                </a:solidFill>
                <a:latin typeface="Space Grotesk"/>
              </a:rPr>
              <a:t>25,728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5635" y="3081337"/>
            <a:ext cx="18248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Inter"/>
              </a:rPr>
              <a:t>102.91% Achieved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714875"/>
            <a:ext cx="5372100" cy="7524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210300" y="4714875"/>
            <a:ext cx="5372100" cy="7524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4714875"/>
            <a:ext cx="38100" cy="7524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10300" y="4714875"/>
            <a:ext cx="38100" cy="7524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219325"/>
            <a:ext cx="5372100" cy="2381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300" y="2219325"/>
            <a:ext cx="5372100" cy="23812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5325" y="2181225"/>
            <a:ext cx="5200650" cy="25336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96025" y="2317465"/>
            <a:ext cx="5200650" cy="218497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191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DIAGNOSTIC OBSERVATIONS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3817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Regional Concentrations &amp; Multi-Year Trajectory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4829175"/>
            <a:ext cx="66008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Western Europe &amp; Americas Lead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5048250"/>
            <a:ext cx="51244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Inter"/>
              </a:rPr>
              <a:t>Western Europe ($1.73M), Central America ($1.22M), and Oceania drive core revenues; secondary markets generate &lt;1.5% each.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829175"/>
            <a:ext cx="57912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24.1% Compound Annual Expansion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048250"/>
            <a:ext cx="51244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Inter"/>
              </a:rPr>
              <a:t>Revenues escalated from $2.25M (2014) to $4.30M+ (2017), supported by strong recurring order volume from enterprise clients.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48991"/>
            <a:ext cx="5372100" cy="2388691"/>
          </a:xfrm>
          <a:prstGeom prst="roundRect">
            <a:avLst>
              <a:gd name="adj" fmla="val 398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648991"/>
            <a:ext cx="5372100" cy="2388691"/>
          </a:xfrm>
          <a:prstGeom prst="roundRect">
            <a:avLst>
              <a:gd name="adj" fmla="val 398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5028158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648991"/>
            <a:ext cx="53721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2648991"/>
            <a:ext cx="9525" cy="238869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72175" y="2648991"/>
            <a:ext cx="9525" cy="238869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0300" y="5028158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0300" y="2648991"/>
            <a:ext cx="5372100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0300" y="2648991"/>
            <a:ext cx="9525" cy="238869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572875" y="2648991"/>
            <a:ext cx="9525" cy="238869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75" y="2963316"/>
            <a:ext cx="19050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475" y="2963316"/>
            <a:ext cx="190500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191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EVIDENCE-BASED SWOT DIAGNOSTIC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3817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Organizational Strengths vs. Operational Weaknesses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525" y="2934741"/>
            <a:ext cx="241280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Validated Strengths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775" y="3353841"/>
            <a:ext cx="495300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0F172A"/>
                </a:solidFill>
                <a:latin typeface="Inter"/>
              </a:rPr>
              <a:t>Technology Margin Dominance: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Technology yields $4.7M+ sales and $663K profit at an industry-leading 14.1% margin.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775" y="3873847"/>
            <a:ext cx="495300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0F172A"/>
                </a:solidFill>
                <a:latin typeface="Inter"/>
              </a:rPr>
              <a:t>High Core Geographic Density: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Western Europe, Central America, and Oceania account for over 32% of total turnover.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775" y="4393852"/>
            <a:ext cx="495300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0F172A"/>
                </a:solidFill>
                <a:latin typeface="Inter"/>
              </a:rPr>
              <a:t>Exceeded Order Targets: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25,728 transactions secured 102.91% of target quota with reliable B2B re-ordering.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53225" y="2934741"/>
            <a:ext cx="241280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Critical Weaknesses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7475" y="3353841"/>
            <a:ext cx="495300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0F172A"/>
                </a:solidFill>
                <a:latin typeface="Inter"/>
              </a:rPr>
              <a:t>Severe Furniture Profit Drag: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Furniture produces $4.1M+ sales but only ~$285K profit (~7% margin) due to deep discounting.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7475" y="3873847"/>
            <a:ext cx="495300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0F172A"/>
                </a:solidFill>
                <a:latin typeface="Inter"/>
              </a:rPr>
              <a:t>Peripheral Distribution Drag: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Canada, Central Asia, and East Africa yield &lt;1.5% each, suffering high shipping friction.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7475" y="4393852"/>
            <a:ext cx="495300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0F172A"/>
                </a:solidFill>
                <a:latin typeface="Inter"/>
              </a:rPr>
              <a:t>Revenue &amp; Profit Shortfall: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Missed targets by ~2.7% ($12.64M vs $13M) due to unrestrained promotional leakage.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69989"/>
            <a:ext cx="3530649" cy="2146696"/>
          </a:xfrm>
          <a:prstGeom prst="roundRect">
            <a:avLst>
              <a:gd name="adj" fmla="val 443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30749" y="2769989"/>
            <a:ext cx="3530649" cy="2146696"/>
          </a:xfrm>
          <a:prstGeom prst="roundRect">
            <a:avLst>
              <a:gd name="adj" fmla="val 443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51899" y="2769989"/>
            <a:ext cx="3530649" cy="2146696"/>
          </a:xfrm>
          <a:prstGeom prst="roundRect">
            <a:avLst>
              <a:gd name="adj" fmla="val 443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47725" y="4002285"/>
            <a:ext cx="3054399" cy="676275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68874" y="4002285"/>
            <a:ext cx="3054399" cy="676275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90024" y="4002285"/>
            <a:ext cx="3054399" cy="676275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4191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EXECUTIVE ACTION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3817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Strategic Recommendations &amp; Business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008114"/>
            <a:ext cx="381799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Inter"/>
              </a:rPr>
              <a:t>RECOMMENDATION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227189"/>
            <a:ext cx="400889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Discount Capping on Bulky Goods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522464"/>
            <a:ext cx="3149649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Enforce automated 10% maximum discount ceilings on Tables, Chairs, and Bookcases.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8874" y="3008114"/>
            <a:ext cx="381799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Inter"/>
              </a:rPr>
              <a:t>RECOMMENDATION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8874" y="3227189"/>
            <a:ext cx="400889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Enterprise Workstation Bundles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8874" y="3522464"/>
            <a:ext cx="3149649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Bundle high-margin Tech accessories with Home Office ergonomic seating for remote B2B accounts.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0024" y="3008114"/>
            <a:ext cx="381799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Inter"/>
              </a:rPr>
              <a:t>RECOMMENDATION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0024" y="3227189"/>
            <a:ext cx="39019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Logistics Consolidation in 3PLs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0024" y="3522464"/>
            <a:ext cx="3149649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Shift distribution in peripheral markets (Canada, Central Asia) to localized third-party partners.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500" y="4107060"/>
            <a:ext cx="35560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Inter"/>
              </a:rPr>
              <a:t>Expected Benefit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500" y="4268985"/>
            <a:ext cx="2940099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Inter"/>
              </a:rPr>
              <a:t>Recaptures ~$65K+ lost margin; lifts Furniture profit to ~10.5%.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3649" y="4107060"/>
            <a:ext cx="35560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Inter"/>
              </a:rPr>
              <a:t>Expected Benefit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3649" y="4268985"/>
            <a:ext cx="2940099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Inter"/>
              </a:rPr>
              <a:t>Expands segment revenue by 15–20% at superior 11.9% margin.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799" y="4107060"/>
            <a:ext cx="35560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Inter"/>
              </a:rPr>
              <a:t>Expected Benefit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799" y="4268985"/>
            <a:ext cx="2940099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Inter"/>
              </a:rPr>
              <a:t>Decreases cross-border freight overhead by 12–18%.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428750" y="4208115"/>
            <a:ext cx="2959149" cy="1076325"/>
          </a:xfrm>
          <a:prstGeom prst="roundRect">
            <a:avLst>
              <a:gd name="adj" fmla="val 884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616499" y="4208115"/>
            <a:ext cx="2959149" cy="1076325"/>
          </a:xfrm>
          <a:prstGeom prst="roundRect">
            <a:avLst>
              <a:gd name="adj" fmla="val 884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804249" y="4208115"/>
            <a:ext cx="2959149" cy="1076325"/>
          </a:xfrm>
          <a:prstGeom prst="roundRect">
            <a:avLst>
              <a:gd name="adj" fmla="val 884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970859" y="1573559"/>
            <a:ext cx="225028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38BDF8"/>
                </a:solidFill>
                <a:latin typeface="Space Grotesk"/>
              </a:rPr>
              <a:t>EXECUTIVE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328" y="1859309"/>
            <a:ext cx="10751343" cy="1005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959"/>
              </a:lnSpc>
            </a:pPr>
            <a:r>
              <a:rPr sz="3300" b="1" i="0" u="none">
                <a:solidFill>
                  <a:srgbClr val="F8FAFC"/>
                </a:solidFill>
                <a:latin typeface="Space Grotesk"/>
              </a:rPr>
              <a:t>Driving Strategic Growth Through BI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1625" y="3055590"/>
            <a:ext cx="90487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Integrating diagnostic Power BI analytics converts transactional data into actionable management control. Enforcing discount discipline and scaling high-margin verticals ensures target achievement and sustainable enterprise profitability.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8775" y="4408140"/>
            <a:ext cx="3198874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Inter"/>
              </a:rPr>
              <a:t>30-DAY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8775" y="4598640"/>
            <a:ext cx="2654349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E2E8F0"/>
                </a:solidFill>
                <a:latin typeface="Inter"/>
              </a:rPr>
              <a:t>Implement Power BI DAX alert rules for transactions exceeding 10% discount on heavy items.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6524" y="4408140"/>
            <a:ext cx="3198874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Inter"/>
              </a:rPr>
              <a:t>60-DAY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6524" y="4598640"/>
            <a:ext cx="2654349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E2E8F0"/>
                </a:solidFill>
                <a:latin typeface="Inter"/>
              </a:rPr>
              <a:t>Roll out enterprise B2B Home Office product bundles with volume-based pricing tiers.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4274" y="4408140"/>
            <a:ext cx="3198874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Inter"/>
              </a:rPr>
              <a:t>90-DAY 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4274" y="4598640"/>
            <a:ext cx="2654349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E2E8F0"/>
                </a:solidFill>
                <a:latin typeface="Inter"/>
              </a:rPr>
              <a:t>Transition peripheral distribution to regional 3PL partners to optimize unit economics.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514</Words>
  <Application>Microsoft Office PowerPoint</Application>
  <PresentationFormat>Widescreen</PresentationFormat>
  <Paragraphs>82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Space Grotesk</vt:lpstr>
      <vt:lpstr>Inter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Om Sengar</cp:lastModifiedBy>
  <cp:revision>2</cp:revision>
  <dcterms:created xsi:type="dcterms:W3CDTF">2013-01-27T09:14:16Z</dcterms:created>
  <dcterms:modified xsi:type="dcterms:W3CDTF">2026-10-24T01:09:00Z</dcterms:modified>
  <cp:category/>
</cp:coreProperties>
</file>